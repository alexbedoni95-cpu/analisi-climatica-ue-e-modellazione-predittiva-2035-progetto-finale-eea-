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Montserrat SemiBold"/>
      <p:regular r:id="rId28"/>
      <p:bold r:id="rId29"/>
      <p:italic r:id="rId30"/>
      <p:boldItalic r:id="rId31"/>
    </p:embeddedFont>
    <p:embeddedFont>
      <p:font typeface="Montserrat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Montserrat Medium"/>
      <p:regular r:id="rId40"/>
      <p:bold r:id="rId41"/>
      <p:italic r:id="rId42"/>
      <p:boldItalic r:id="rId43"/>
    </p:embeddedFont>
    <p:embeddedFont>
      <p:font typeface="Lato Light"/>
      <p:regular r:id="rId44"/>
      <p:bold r:id="rId45"/>
      <p:italic r:id="rId46"/>
      <p:boldItalic r:id="rId47"/>
    </p:embeddedFont>
    <p:embeddedFont>
      <p:font typeface="Montserrat Light"/>
      <p:regular r:id="rId48"/>
      <p:bold r:id="rId49"/>
      <p:italic r:id="rId50"/>
      <p:boldItalic r:id="rId51"/>
    </p:embeddedFont>
    <p:embeddedFont>
      <p:font typeface="Montserrat ExtraLight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626">
          <p15:clr>
            <a:schemeClr val="accent1"/>
          </p15:clr>
        </p15:guide>
        <p15:guide id="3" pos="168">
          <p15:clr>
            <a:schemeClr val="accent1"/>
          </p15:clr>
        </p15:guide>
        <p15:guide id="4" orient="horz" pos="800">
          <p15:clr>
            <a:schemeClr val="accent1"/>
          </p15:clr>
        </p15:guide>
        <p15:guide id="5" orient="horz" pos="2440">
          <p15:clr>
            <a:schemeClr val="accent1"/>
          </p15:clr>
        </p15:guide>
        <p15:guide id="6" orient="horz" pos="648">
          <p15:clr>
            <a:srgbClr val="9AA0A6"/>
          </p15:clr>
        </p15:guide>
        <p15:guide id="7" orient="horz" pos="211">
          <p15:clr>
            <a:srgbClr val="FF00FF"/>
          </p15:clr>
        </p15:guide>
        <p15:guide id="8" orient="horz" pos="3029">
          <p15:clr>
            <a:srgbClr val="FF00FF"/>
          </p15:clr>
        </p15:guide>
        <p15:guide id="9" pos="3592">
          <p15:clr>
            <a:srgbClr val="FF00FF"/>
          </p15:clr>
        </p15:guide>
        <p15:guide id="10" pos="5471">
          <p15:clr>
            <a:srgbClr val="FF00FF"/>
          </p15:clr>
        </p15:guide>
        <p15:guide id="11" orient="horz" pos="896">
          <p15:clr>
            <a:srgbClr val="9AA0A6"/>
          </p15:clr>
        </p15:guide>
        <p15:guide id="12" orient="horz" pos="576">
          <p15:clr>
            <a:srgbClr val="00FF00"/>
          </p15:clr>
        </p15:guide>
        <p15:guide id="13" orient="horz" pos="2860">
          <p15:clr>
            <a:srgbClr val="00FF00"/>
          </p15:clr>
        </p15:guide>
        <p15:guide id="14" pos="2880">
          <p15:clr>
            <a:srgbClr val="00FF00"/>
          </p15:clr>
        </p15:guide>
        <p15:guide id="15" pos="5577">
          <p15:clr>
            <a:srgbClr val="00FF00"/>
          </p15:clr>
        </p15:guide>
        <p15:guide id="16" orient="horz" pos="327">
          <p15:clr>
            <a:schemeClr val="accent4"/>
          </p15:clr>
        </p15:guide>
        <p15:guide id="17" orient="horz" pos="1157">
          <p15:clr>
            <a:schemeClr val="accent4"/>
          </p15:clr>
        </p15:guide>
        <p15:guide id="18" pos="4768">
          <p15:clr>
            <a:schemeClr val="accent4"/>
          </p15:clr>
        </p15:guide>
        <p15:guide id="19" pos="5598">
          <p15:clr>
            <a:schemeClr val="accent4"/>
          </p15:clr>
        </p15:guide>
        <p15:guide id="20" orient="horz" pos="603">
          <p15:clr>
            <a:srgbClr val="9AA0A6"/>
          </p15:clr>
        </p15:guide>
        <p15:guide id="21" pos="561">
          <p15:clr>
            <a:srgbClr val="9AA0A6"/>
          </p15:clr>
        </p15:guide>
        <p15:guide id="22" pos="5151">
          <p15:clr>
            <a:srgbClr val="9AA0A6"/>
          </p15:clr>
        </p15:guide>
        <p15:guide id="23" orient="horz" pos="992">
          <p15:clr>
            <a:srgbClr val="747775"/>
          </p15:clr>
        </p15:guide>
      </p15:sldGuideLst>
    </p:ext>
    <p:ext uri="GoogleSlidesCustomDataVersion2">
      <go:slidesCustomData xmlns:go="http://customooxmlschemas.google.com/" r:id="rId56" roundtripDataSignature="AMtx7miG+k4PiVwbWX/xjhn8CedKr8f1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626"/>
        <p:guide pos="168"/>
        <p:guide pos="800" orient="horz"/>
        <p:guide pos="2440" orient="horz"/>
        <p:guide pos="648" orient="horz"/>
        <p:guide pos="211" orient="horz"/>
        <p:guide pos="3029" orient="horz"/>
        <p:guide pos="3592"/>
        <p:guide pos="5471"/>
        <p:guide pos="896" orient="horz"/>
        <p:guide pos="576" orient="horz"/>
        <p:guide pos="2860" orient="horz"/>
        <p:guide pos="2880"/>
        <p:guide pos="5577"/>
        <p:guide pos="327" orient="horz"/>
        <p:guide pos="1157" orient="horz"/>
        <p:guide pos="4768"/>
        <p:guide pos="5598"/>
        <p:guide pos="603" orient="horz"/>
        <p:guide pos="561"/>
        <p:guide pos="5151"/>
        <p:guide pos="9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regular.fntdata"/><Relationship Id="rId42" Type="http://schemas.openxmlformats.org/officeDocument/2006/relationships/font" Target="fonts/MontserratMedium-italic.fntdata"/><Relationship Id="rId41" Type="http://schemas.openxmlformats.org/officeDocument/2006/relationships/font" Target="fonts/MontserratMedium-bold.fntdata"/><Relationship Id="rId44" Type="http://schemas.openxmlformats.org/officeDocument/2006/relationships/font" Target="fonts/LatoLight-regular.fntdata"/><Relationship Id="rId43" Type="http://schemas.openxmlformats.org/officeDocument/2006/relationships/font" Target="fonts/MontserratMedium-boldItalic.fntdata"/><Relationship Id="rId46" Type="http://schemas.openxmlformats.org/officeDocument/2006/relationships/font" Target="fonts/LatoLight-italic.fntdata"/><Relationship Id="rId45" Type="http://schemas.openxmlformats.org/officeDocument/2006/relationships/font" Target="fonts/LatoLight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MontserratLight-regular.fntdata"/><Relationship Id="rId47" Type="http://schemas.openxmlformats.org/officeDocument/2006/relationships/font" Target="fonts/LatoLight-boldItalic.fntdata"/><Relationship Id="rId49" Type="http://schemas.openxmlformats.org/officeDocument/2006/relationships/font" Target="fonts/MontserratLigh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SemiBold-boldItalic.fntdata"/><Relationship Id="rId30" Type="http://schemas.openxmlformats.org/officeDocument/2006/relationships/font" Target="fonts/MontserratSemiBold-italic.fntdata"/><Relationship Id="rId33" Type="http://schemas.openxmlformats.org/officeDocument/2006/relationships/font" Target="fonts/Montserrat-bold.fntdata"/><Relationship Id="rId32" Type="http://schemas.openxmlformats.org/officeDocument/2006/relationships/font" Target="fonts/Montserrat-regular.fntdata"/><Relationship Id="rId35" Type="http://schemas.openxmlformats.org/officeDocument/2006/relationships/font" Target="fonts/Montserrat-boldItalic.fntdata"/><Relationship Id="rId34" Type="http://schemas.openxmlformats.org/officeDocument/2006/relationships/font" Target="fonts/Montserrat-italic.fntdata"/><Relationship Id="rId37" Type="http://schemas.openxmlformats.org/officeDocument/2006/relationships/font" Target="fonts/Lato-bold.fntdata"/><Relationship Id="rId36" Type="http://schemas.openxmlformats.org/officeDocument/2006/relationships/font" Target="fonts/Lato-regular.fntdata"/><Relationship Id="rId39" Type="http://schemas.openxmlformats.org/officeDocument/2006/relationships/font" Target="fonts/Lato-boldItalic.fntdata"/><Relationship Id="rId38" Type="http://schemas.openxmlformats.org/officeDocument/2006/relationships/font" Target="fonts/Lato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MontserratSemiBold-regular.fntdata"/><Relationship Id="rId27" Type="http://schemas.openxmlformats.org/officeDocument/2006/relationships/slide" Target="slides/slide21.xml"/><Relationship Id="rId29" Type="http://schemas.openxmlformats.org/officeDocument/2006/relationships/font" Target="fonts/MontserratSemiBold-bold.fntdata"/><Relationship Id="rId51" Type="http://schemas.openxmlformats.org/officeDocument/2006/relationships/font" Target="fonts/MontserratLight-boldItalic.fntdata"/><Relationship Id="rId50" Type="http://schemas.openxmlformats.org/officeDocument/2006/relationships/font" Target="fonts/MontserratLight-italic.fntdata"/><Relationship Id="rId53" Type="http://schemas.openxmlformats.org/officeDocument/2006/relationships/font" Target="fonts/MontserratExtraLight-bold.fntdata"/><Relationship Id="rId52" Type="http://schemas.openxmlformats.org/officeDocument/2006/relationships/font" Target="fonts/MontserratExtraLight-regular.fntdata"/><Relationship Id="rId11" Type="http://schemas.openxmlformats.org/officeDocument/2006/relationships/slide" Target="slides/slide5.xml"/><Relationship Id="rId55" Type="http://schemas.openxmlformats.org/officeDocument/2006/relationships/font" Target="fonts/MontserratExtraLight-boldItalic.fntdata"/><Relationship Id="rId10" Type="http://schemas.openxmlformats.org/officeDocument/2006/relationships/slide" Target="slides/slide4.xml"/><Relationship Id="rId54" Type="http://schemas.openxmlformats.org/officeDocument/2006/relationships/font" Target="fonts/MontserratExtraLigh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0b0ac5074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0b0ac507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PER IMMAGINE RAGAZZI SEGUIRE LINEE GUIDA NERE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249a1afb43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249a1afb4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0b0ac5074b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30b0ac5074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0b0ac5074b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30b0ac5074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0b0ac5074b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0b0ac5074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0b0ac5074b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30b0ac5074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0b0ac5074b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30b0ac5074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249a1afb43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3249a1afb4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Relationship Id="rId3" Type="http://schemas.openxmlformats.org/officeDocument/2006/relationships/image" Target="../media/image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Relationship Id="rId3" Type="http://schemas.openxmlformats.org/officeDocument/2006/relationships/image" Target="../media/image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jpg"/><Relationship Id="rId3" Type="http://schemas.openxmlformats.org/officeDocument/2006/relationships/image" Target="../media/image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g"/><Relationship Id="rId3" Type="http://schemas.openxmlformats.org/officeDocument/2006/relationships/image" Target="../media/image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jpg"/><Relationship Id="rId3" Type="http://schemas.openxmlformats.org/officeDocument/2006/relationships/image" Target="../media/image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g"/><Relationship Id="rId3" Type="http://schemas.openxmlformats.org/officeDocument/2006/relationships/image" Target="../media/image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jpg"/><Relationship Id="rId3" Type="http://schemas.openxmlformats.org/officeDocument/2006/relationships/image" Target="../media/image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jpg"/><Relationship Id="rId3" Type="http://schemas.openxmlformats.org/officeDocument/2006/relationships/image" Target="../media/image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jpg"/><Relationship Id="rId3" Type="http://schemas.openxmlformats.org/officeDocument/2006/relationships/image" Target="../media/image3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jpg"/><Relationship Id="rId3" Type="http://schemas.openxmlformats.org/officeDocument/2006/relationships/image" Target="../media/image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jpg"/><Relationship Id="rId3" Type="http://schemas.openxmlformats.org/officeDocument/2006/relationships/image" Target="../media/image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jpg"/><Relationship Id="rId3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jpg"/><Relationship Id="rId3" Type="http://schemas.openxmlformats.org/officeDocument/2006/relationships/image" Target="../media/image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jpg"/><Relationship Id="rId3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jpg"/><Relationship Id="rId3" Type="http://schemas.openxmlformats.org/officeDocument/2006/relationships/image" Target="../media/image3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3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ERTINA DOCUMENTO">
  <p:cSld name="CUSTOM_2"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3325" y="381000"/>
            <a:ext cx="16573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8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8"/>
          <p:cNvSpPr txBox="1"/>
          <p:nvPr>
            <p:ph type="title"/>
          </p:nvPr>
        </p:nvSpPr>
        <p:spPr>
          <a:xfrm>
            <a:off x="1767600" y="2530075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idx="1" type="subTitle"/>
          </p:nvPr>
        </p:nvSpPr>
        <p:spPr>
          <a:xfrm>
            <a:off x="1767600" y="3429225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5" name="Google Shape;15;p38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3">
  <p:cSld name="Slide Interna 3"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2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2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0" name="Google Shape;20;p42"/>
          <p:cNvSpPr txBox="1"/>
          <p:nvPr>
            <p:ph idx="2"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" name="Google Shape;21;p42"/>
          <p:cNvSpPr txBox="1"/>
          <p:nvPr>
            <p:ph idx="1" type="body"/>
          </p:nvPr>
        </p:nvSpPr>
        <p:spPr>
          <a:xfrm>
            <a:off x="228675" y="1198575"/>
            <a:ext cx="4207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2" name="Google Shape;22;p42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2">
  <p:cSld name="CUSTOM_4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3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3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" name="Google Shape;27;p43"/>
          <p:cNvSpPr txBox="1"/>
          <p:nvPr>
            <p:ph idx="2" type="title"/>
          </p:nvPr>
        </p:nvSpPr>
        <p:spPr>
          <a:xfrm>
            <a:off x="126650" y="519475"/>
            <a:ext cx="8788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8" name="Google Shape;28;p43"/>
          <p:cNvSpPr txBox="1"/>
          <p:nvPr>
            <p:ph idx="1" type="body"/>
          </p:nvPr>
        </p:nvSpPr>
        <p:spPr>
          <a:xfrm>
            <a:off x="228675" y="1198575"/>
            <a:ext cx="4207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" name="Google Shape;29;p43"/>
          <p:cNvSpPr txBox="1"/>
          <p:nvPr>
            <p:ph idx="3" type="body"/>
          </p:nvPr>
        </p:nvSpPr>
        <p:spPr>
          <a:xfrm>
            <a:off x="4708200" y="1198575"/>
            <a:ext cx="4207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0" name="Google Shape;30;p43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e capitolo">
  <p:cSld name="CUSTOM_2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4"/>
          <p:cNvSpPr/>
          <p:nvPr/>
        </p:nvSpPr>
        <p:spPr>
          <a:xfrm rot="-5400000">
            <a:off x="1993000" y="-2001650"/>
            <a:ext cx="5157000" cy="9160200"/>
          </a:xfrm>
          <a:prstGeom prst="rect">
            <a:avLst/>
          </a:prstGeom>
          <a:solidFill>
            <a:srgbClr val="FFFFFF"/>
          </a:solidFill>
          <a:ln cap="flat" cmpd="sng" w="228600">
            <a:solidFill>
              <a:srgbClr val="FFED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4"/>
          <p:cNvSpPr txBox="1"/>
          <p:nvPr>
            <p:ph type="title"/>
          </p:nvPr>
        </p:nvSpPr>
        <p:spPr>
          <a:xfrm>
            <a:off x="367925" y="2118150"/>
            <a:ext cx="48375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800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34" name="Google Shape;34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95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4"/>
          <p:cNvSpPr txBox="1"/>
          <p:nvPr>
            <p:ph idx="1" type="subTitle"/>
          </p:nvPr>
        </p:nvSpPr>
        <p:spPr>
          <a:xfrm>
            <a:off x="367925" y="3098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">
  <p:cSld name="Slide Interna Foto 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6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sz="1200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39" name="Google Shape;39;p46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6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 cover">
  <p:cSld name="Back cover"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7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7"/>
          <p:cNvSpPr txBox="1"/>
          <p:nvPr/>
        </p:nvSpPr>
        <p:spPr>
          <a:xfrm>
            <a:off x="1844700" y="2571750"/>
            <a:ext cx="28044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47"/>
          <p:cNvSpPr txBox="1"/>
          <p:nvPr/>
        </p:nvSpPr>
        <p:spPr>
          <a:xfrm>
            <a:off x="1844700" y="3320075"/>
            <a:ext cx="28044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47" name="Google Shape;4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6094" y="2466114"/>
            <a:ext cx="232931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47"/>
          <p:cNvPicPr preferRelativeResize="0"/>
          <p:nvPr/>
        </p:nvPicPr>
        <p:blipFill rotWithShape="1">
          <a:blip r:embed="rId4">
            <a:alphaModFix/>
          </a:blip>
          <a:srcRect b="66" l="0" r="0" t="69"/>
          <a:stretch/>
        </p:blipFill>
        <p:spPr>
          <a:xfrm>
            <a:off x="-1129287" y="-1138884"/>
            <a:ext cx="3079773" cy="3285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ERTINA DOCUMENTO 1">
  <p:cSld name="CUSTOM_2_2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3325" y="381000"/>
            <a:ext cx="16573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5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5"/>
          <p:cNvSpPr txBox="1"/>
          <p:nvPr>
            <p:ph type="title"/>
          </p:nvPr>
        </p:nvSpPr>
        <p:spPr>
          <a:xfrm>
            <a:off x="1767600" y="2530075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4" name="Google Shape;54;p45"/>
          <p:cNvSpPr txBox="1"/>
          <p:nvPr>
            <p:ph idx="1" type="subTitle"/>
          </p:nvPr>
        </p:nvSpPr>
        <p:spPr>
          <a:xfrm>
            <a:off x="1767600" y="3429225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55" name="Google Shape;55;p45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2022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4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5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5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5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5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ice 1">
  <p:cSld name="CUSTOM_1"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9"/>
          <p:cNvSpPr txBox="1"/>
          <p:nvPr/>
        </p:nvSpPr>
        <p:spPr>
          <a:xfrm>
            <a:off x="228600" y="2452200"/>
            <a:ext cx="4343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rgbClr val="1D1D1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index</a:t>
            </a:r>
            <a:endParaRPr b="0" i="0" sz="1800" u="none" cap="none" strike="noStrike">
              <a:solidFill>
                <a:srgbClr val="1D1D1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" name="Google Shape;100;p59"/>
          <p:cNvSpPr txBox="1"/>
          <p:nvPr>
            <p:ph idx="1" type="body"/>
          </p:nvPr>
        </p:nvSpPr>
        <p:spPr>
          <a:xfrm>
            <a:off x="4513000" y="877950"/>
            <a:ext cx="4343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01" name="Google Shape;101;p59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9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3 1">
  <p:cSld name="CUSTOM_4_1_2"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0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0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08" name="Google Shape;108;p60"/>
          <p:cNvSpPr txBox="1"/>
          <p:nvPr>
            <p:ph idx="2"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09" name="Google Shape;109;p60"/>
          <p:cNvSpPr txBox="1"/>
          <p:nvPr>
            <p:ph idx="1" type="body"/>
          </p:nvPr>
        </p:nvSpPr>
        <p:spPr>
          <a:xfrm>
            <a:off x="228675" y="1198575"/>
            <a:ext cx="4207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10" name="Google Shape;110;p60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2022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3">
  <p:cSld name="CUSTOM_4_1"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0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0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16" name="Google Shape;116;p40"/>
          <p:cNvSpPr txBox="1"/>
          <p:nvPr>
            <p:ph idx="2"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7" name="Google Shape;117;p40"/>
          <p:cNvSpPr txBox="1"/>
          <p:nvPr>
            <p:ph idx="1" type="body"/>
          </p:nvPr>
        </p:nvSpPr>
        <p:spPr>
          <a:xfrm>
            <a:off x="228675" y="1198575"/>
            <a:ext cx="4207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18" name="Google Shape;118;p40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e capitolo">
  <p:cSld name="CUSTOM_2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1"/>
          <p:cNvSpPr/>
          <p:nvPr/>
        </p:nvSpPr>
        <p:spPr>
          <a:xfrm rot="-5400000">
            <a:off x="1993000" y="-2001650"/>
            <a:ext cx="5157000" cy="9160200"/>
          </a:xfrm>
          <a:prstGeom prst="rect">
            <a:avLst/>
          </a:prstGeom>
          <a:solidFill>
            <a:srgbClr val="FFFFFF"/>
          </a:solidFill>
          <a:ln cap="flat" cmpd="sng" w="228600">
            <a:solidFill>
              <a:srgbClr val="FFED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1"/>
          <p:cNvSpPr txBox="1"/>
          <p:nvPr>
            <p:ph type="title"/>
          </p:nvPr>
        </p:nvSpPr>
        <p:spPr>
          <a:xfrm>
            <a:off x="367925" y="2118150"/>
            <a:ext cx="48375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22" name="Google Shape;122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95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1"/>
          <p:cNvSpPr txBox="1"/>
          <p:nvPr>
            <p:ph idx="1" type="subTitle"/>
          </p:nvPr>
        </p:nvSpPr>
        <p:spPr>
          <a:xfrm>
            <a:off x="367925" y="3098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2">
  <p:cSld name="CUSTOM_4"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1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1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28" name="Google Shape;128;p71"/>
          <p:cNvSpPr txBox="1"/>
          <p:nvPr>
            <p:ph idx="2" type="title"/>
          </p:nvPr>
        </p:nvSpPr>
        <p:spPr>
          <a:xfrm>
            <a:off x="126650" y="519475"/>
            <a:ext cx="8788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9" name="Google Shape;129;p71"/>
          <p:cNvSpPr txBox="1"/>
          <p:nvPr>
            <p:ph idx="1" type="body"/>
          </p:nvPr>
        </p:nvSpPr>
        <p:spPr>
          <a:xfrm>
            <a:off x="228675" y="1198575"/>
            <a:ext cx="4207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30" name="Google Shape;130;p71"/>
          <p:cNvSpPr txBox="1"/>
          <p:nvPr>
            <p:ph idx="3" type="body"/>
          </p:nvPr>
        </p:nvSpPr>
        <p:spPr>
          <a:xfrm>
            <a:off x="4708200" y="1198575"/>
            <a:ext cx="4207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31" name="Google Shape;131;p71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" type="title">
  <p:cSld name="TITLE"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3188850"/>
            <a:ext cx="1147601" cy="2567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1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6" name="Google Shape;136;p61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37" name="Google Shape;137;p61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2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1149" y="3218995"/>
            <a:ext cx="1073500" cy="2930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2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3" name="Google Shape;143;p62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44" name="Google Shape;144;p62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3">
  <p:cSld name="TITLE_2_1"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3197482"/>
            <a:ext cx="1073500" cy="2643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3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0" name="Google Shape;150;p63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51" name="Google Shape;151;p63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 dark">
  <p:cSld name="TITLE_1"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4"/>
          <p:cNvSpPr/>
          <p:nvPr/>
        </p:nvSpPr>
        <p:spPr>
          <a:xfrm rot="-5400000">
            <a:off x="1979850" y="-2036600"/>
            <a:ext cx="5184300" cy="91995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64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457200" y="3188850"/>
            <a:ext cx="1147601" cy="256764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4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4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9" name="Google Shape;159;p64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 dark">
  <p:cSld name="TITLE_1_1"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5"/>
          <p:cNvSpPr/>
          <p:nvPr/>
        </p:nvSpPr>
        <p:spPr>
          <a:xfrm rot="-5400000">
            <a:off x="1979850" y="-2036600"/>
            <a:ext cx="5184300" cy="91995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65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481149" y="3218995"/>
            <a:ext cx="1073500" cy="293047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5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5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6" name="Google Shape;166;p65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3 dark">
  <p:cSld name="TITLE_1_1_1"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6"/>
          <p:cNvSpPr/>
          <p:nvPr/>
        </p:nvSpPr>
        <p:spPr>
          <a:xfrm rot="-5400000">
            <a:off x="1979850" y="-2036600"/>
            <a:ext cx="5184300" cy="91995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66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457200" y="3197482"/>
            <a:ext cx="1073500" cy="264329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6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6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3" name="Google Shape;173;p66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ice 1">
  <p:cSld name="CUSTOM_1"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7"/>
          <p:cNvSpPr txBox="1"/>
          <p:nvPr/>
        </p:nvSpPr>
        <p:spPr>
          <a:xfrm>
            <a:off x="228600" y="2452200"/>
            <a:ext cx="4343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rgbClr val="1D1D1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index</a:t>
            </a:r>
            <a:endParaRPr b="0" i="0" sz="1800" u="none" cap="none" strike="noStrike">
              <a:solidFill>
                <a:srgbClr val="1D1D1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7" name="Google Shape;177;p67"/>
          <p:cNvSpPr txBox="1"/>
          <p:nvPr>
            <p:ph idx="1" type="body"/>
          </p:nvPr>
        </p:nvSpPr>
        <p:spPr>
          <a:xfrm>
            <a:off x="4513000" y="877950"/>
            <a:ext cx="4343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78" name="Google Shape;178;p67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7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ice 1 dark">
  <p:cSld name="CUSTOM_1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8"/>
          <p:cNvSpPr/>
          <p:nvPr/>
        </p:nvSpPr>
        <p:spPr>
          <a:xfrm rot="-5400000">
            <a:off x="1970800" y="-2023850"/>
            <a:ext cx="5201400" cy="91602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D1D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8"/>
          <p:cNvSpPr txBox="1"/>
          <p:nvPr/>
        </p:nvSpPr>
        <p:spPr>
          <a:xfrm>
            <a:off x="228600" y="2452200"/>
            <a:ext cx="4343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index</a:t>
            </a:r>
            <a:endParaRPr b="0" i="0" sz="1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4" name="Google Shape;184;p68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8"/>
          <p:cNvSpPr txBox="1"/>
          <p:nvPr>
            <p:ph idx="1" type="body"/>
          </p:nvPr>
        </p:nvSpPr>
        <p:spPr>
          <a:xfrm>
            <a:off x="4513000" y="877950"/>
            <a:ext cx="4343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87" name="Google Shape;187;p68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ERTINA DOCUMENTO">
  <p:cSld name="CUSTOM_2"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3325" y="381000"/>
            <a:ext cx="16573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9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9"/>
          <p:cNvSpPr txBox="1"/>
          <p:nvPr>
            <p:ph type="title"/>
          </p:nvPr>
        </p:nvSpPr>
        <p:spPr>
          <a:xfrm>
            <a:off x="1767600" y="2530075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3" name="Google Shape;193;p69"/>
          <p:cNvSpPr txBox="1"/>
          <p:nvPr>
            <p:ph idx="1" type="subTitle"/>
          </p:nvPr>
        </p:nvSpPr>
        <p:spPr>
          <a:xfrm>
            <a:off x="1767600" y="3429225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94" name="Google Shape;194;p69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e capitolo dark">
  <p:cSld name="CUSTOM_2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0"/>
          <p:cNvSpPr/>
          <p:nvPr/>
        </p:nvSpPr>
        <p:spPr>
          <a:xfrm rot="-5400000">
            <a:off x="1993000" y="-2001650"/>
            <a:ext cx="5157000" cy="9160200"/>
          </a:xfrm>
          <a:prstGeom prst="rect">
            <a:avLst/>
          </a:prstGeom>
          <a:solidFill>
            <a:srgbClr val="1D1D1B"/>
          </a:solidFill>
          <a:ln cap="flat" cmpd="sng" w="228600">
            <a:solidFill>
              <a:srgbClr val="FFED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95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0"/>
          <p:cNvSpPr txBox="1"/>
          <p:nvPr>
            <p:ph idx="1" type="subTitle"/>
          </p:nvPr>
        </p:nvSpPr>
        <p:spPr>
          <a:xfrm>
            <a:off x="367925" y="3098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99" name="Google Shape;199;p70"/>
          <p:cNvSpPr txBox="1"/>
          <p:nvPr>
            <p:ph type="title"/>
          </p:nvPr>
        </p:nvSpPr>
        <p:spPr>
          <a:xfrm>
            <a:off x="367925" y="2118150"/>
            <a:ext cx="48375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4">
  <p:cSld name="CUSTOM_4_1_1"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2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2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04" name="Google Shape;204;p72"/>
          <p:cNvSpPr txBox="1"/>
          <p:nvPr>
            <p:ph idx="2" type="title"/>
          </p:nvPr>
        </p:nvSpPr>
        <p:spPr>
          <a:xfrm>
            <a:off x="126650" y="519475"/>
            <a:ext cx="30738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5" name="Google Shape;205;p72"/>
          <p:cNvSpPr txBox="1"/>
          <p:nvPr>
            <p:ph idx="1" type="body"/>
          </p:nvPr>
        </p:nvSpPr>
        <p:spPr>
          <a:xfrm>
            <a:off x="228675" y="1198575"/>
            <a:ext cx="2841900" cy="3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06" name="Google Shape;206;p72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016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5">
  <p:cSld name="CUSTOM_4_2"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3"/>
          <p:cNvSpPr txBox="1"/>
          <p:nvPr>
            <p:ph idx="1" type="body"/>
          </p:nvPr>
        </p:nvSpPr>
        <p:spPr>
          <a:xfrm>
            <a:off x="6116075" y="2500675"/>
            <a:ext cx="2799300" cy="22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pic>
        <p:nvPicPr>
          <p:cNvPr id="209" name="Google Shape;209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3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3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12" name="Google Shape;212;p73"/>
          <p:cNvSpPr txBox="1"/>
          <p:nvPr>
            <p:ph idx="2" type="body"/>
          </p:nvPr>
        </p:nvSpPr>
        <p:spPr>
          <a:xfrm>
            <a:off x="3150875" y="2500650"/>
            <a:ext cx="2783700" cy="22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13" name="Google Shape;213;p73"/>
          <p:cNvSpPr txBox="1"/>
          <p:nvPr>
            <p:ph idx="3" type="title"/>
          </p:nvPr>
        </p:nvSpPr>
        <p:spPr>
          <a:xfrm>
            <a:off x="126650" y="2500650"/>
            <a:ext cx="28428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4" name="Google Shape;214;p73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975">
          <p15:clr>
            <a:srgbClr val="FA7B17"/>
          </p15:clr>
        </p15:guide>
        <p15:guide id="2" pos="3738">
          <p15:clr>
            <a:srgbClr val="FA7B17"/>
          </p15:clr>
        </p15:guide>
        <p15:guide id="3" pos="3853">
          <p15:clr>
            <a:srgbClr val="FA7B17"/>
          </p15:clr>
        </p15:guide>
        <p15:guide id="4" pos="5616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6">
  <p:cSld name="CUSTOM_4_3"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4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4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19" name="Google Shape;219;p74"/>
          <p:cNvSpPr txBox="1"/>
          <p:nvPr>
            <p:ph idx="2" type="title"/>
          </p:nvPr>
        </p:nvSpPr>
        <p:spPr>
          <a:xfrm>
            <a:off x="126650" y="534725"/>
            <a:ext cx="28677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20" name="Google Shape;220;p74"/>
          <p:cNvSpPr txBox="1"/>
          <p:nvPr>
            <p:ph idx="1" type="body"/>
          </p:nvPr>
        </p:nvSpPr>
        <p:spPr>
          <a:xfrm>
            <a:off x="3200450" y="534725"/>
            <a:ext cx="5715000" cy="3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21" name="Google Shape;221;p74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975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7">
  <p:cSld name="CUSTOM_4_3_1"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5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5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26" name="Google Shape;226;p75"/>
          <p:cNvSpPr txBox="1"/>
          <p:nvPr>
            <p:ph idx="1" type="body"/>
          </p:nvPr>
        </p:nvSpPr>
        <p:spPr>
          <a:xfrm>
            <a:off x="4572000" y="1482600"/>
            <a:ext cx="4343400" cy="30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27" name="Google Shape;227;p75"/>
          <p:cNvSpPr txBox="1"/>
          <p:nvPr>
            <p:ph idx="2" type="title"/>
          </p:nvPr>
        </p:nvSpPr>
        <p:spPr>
          <a:xfrm>
            <a:off x="126650" y="2220259"/>
            <a:ext cx="30738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28" name="Google Shape;228;p75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8">
  <p:cSld name="CUSTOM_4_3_1_1"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76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9">
  <p:cSld name="CUSTOM_4_2_1"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77"/>
          <p:cNvSpPr txBox="1"/>
          <p:nvPr>
            <p:ph type="title"/>
          </p:nvPr>
        </p:nvSpPr>
        <p:spPr>
          <a:xfrm>
            <a:off x="126650" y="519484"/>
            <a:ext cx="27993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35" name="Google Shape;235;p77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7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37" name="Google Shape;237;p77"/>
          <p:cNvSpPr txBox="1"/>
          <p:nvPr>
            <p:ph idx="1" type="body"/>
          </p:nvPr>
        </p:nvSpPr>
        <p:spPr>
          <a:xfrm>
            <a:off x="3148584" y="519432"/>
            <a:ext cx="4343400" cy="30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38" name="Google Shape;238;p77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975">
          <p15:clr>
            <a:srgbClr val="FA7B17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0">
  <p:cSld name="CUSTOM_4_2_1_1_1"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p78"/>
          <p:cNvCxnSpPr/>
          <p:nvPr/>
        </p:nvCxnSpPr>
        <p:spPr>
          <a:xfrm>
            <a:off x="247975" y="2568075"/>
            <a:ext cx="867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41" name="Google Shape;241;p78"/>
          <p:cNvCxnSpPr/>
          <p:nvPr/>
        </p:nvCxnSpPr>
        <p:spPr>
          <a:xfrm rot="5400000">
            <a:off x="2390100" y="2568075"/>
            <a:ext cx="4363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42" name="Google Shape;242;p78"/>
          <p:cNvSpPr txBox="1"/>
          <p:nvPr>
            <p:ph type="title"/>
          </p:nvPr>
        </p:nvSpPr>
        <p:spPr>
          <a:xfrm>
            <a:off x="126650" y="519475"/>
            <a:ext cx="42930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3" name="Google Shape;243;p78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44" name="Google Shape;244;p78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8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1">
  <p:cSld name="CUSTOM_4_3_2"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79"/>
          <p:cNvSpPr txBox="1"/>
          <p:nvPr>
            <p:ph type="title"/>
          </p:nvPr>
        </p:nvSpPr>
        <p:spPr>
          <a:xfrm>
            <a:off x="126650" y="519475"/>
            <a:ext cx="27993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9" name="Google Shape;249;p79"/>
          <p:cNvSpPr txBox="1"/>
          <p:nvPr>
            <p:ph idx="1" type="body"/>
          </p:nvPr>
        </p:nvSpPr>
        <p:spPr>
          <a:xfrm>
            <a:off x="3135425" y="519475"/>
            <a:ext cx="57801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0" name="Google Shape;250;p79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1" name="Google Shape;251;p79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9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2">
  <p:cSld name="CUSTOM_4_3_2_1"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80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6" name="Google Shape;256;p80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0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3">
  <p:cSld name="CUSTOM_4_3_2_1_1"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81"/>
          <p:cNvSpPr txBox="1"/>
          <p:nvPr>
            <p:ph idx="1" type="body"/>
          </p:nvPr>
        </p:nvSpPr>
        <p:spPr>
          <a:xfrm>
            <a:off x="381000" y="1226225"/>
            <a:ext cx="2874600" cy="30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 Light"/>
              <a:buChar char="●"/>
              <a:defRPr b="0" i="0" sz="12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 Light"/>
              <a:buChar char="○"/>
              <a:defRPr b="0" i="0" sz="12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 Light"/>
              <a:buChar char="■"/>
              <a:defRPr b="0" i="0" sz="12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 Light"/>
              <a:buChar char="●"/>
              <a:defRPr b="0" i="0" sz="12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 Light"/>
              <a:buChar char="○"/>
              <a:defRPr b="0" i="0" sz="12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 Light"/>
              <a:buChar char="●"/>
              <a:defRPr b="0" i="0" sz="12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 Light"/>
              <a:buChar char="○"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 Light"/>
              <a:buChar char="■"/>
              <a:defRPr b="0" i="0" sz="12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261" name="Google Shape;261;p81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2" name="Google Shape;262;p81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1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4">
  <p:cSld name="CUSTOM_4_1_1_1"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82"/>
          <p:cNvSpPr txBox="1"/>
          <p:nvPr>
            <p:ph idx="1" type="body"/>
          </p:nvPr>
        </p:nvSpPr>
        <p:spPr>
          <a:xfrm>
            <a:off x="1181550" y="1640975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7" name="Google Shape;267;p82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82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4">
  <p:cSld name="CUSTOM_4_1_1_1_2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3"/>
          <p:cNvSpPr/>
          <p:nvPr/>
        </p:nvSpPr>
        <p:spPr>
          <a:xfrm rot="-5400000">
            <a:off x="1987000" y="-2007650"/>
            <a:ext cx="5169000" cy="9160200"/>
          </a:xfrm>
          <a:prstGeom prst="rect">
            <a:avLst/>
          </a:prstGeom>
          <a:gradFill>
            <a:gsLst>
              <a:gs pos="0">
                <a:srgbClr val="363632"/>
              </a:gs>
              <a:gs pos="100000">
                <a:srgbClr val="1D1D1B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3"/>
          <p:cNvSpPr txBox="1"/>
          <p:nvPr>
            <p:ph idx="1" type="body"/>
          </p:nvPr>
        </p:nvSpPr>
        <p:spPr>
          <a:xfrm>
            <a:off x="1181550" y="1640975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3" name="Google Shape;273;p83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83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">
  <p:cSld name="CUSTOM_4_1_1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84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79" name="Google Shape;279;p84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4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2">
  <p:cSld name="CUSTOM_4_1_1_1_1_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85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85" name="Google Shape;285;p85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85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3">
  <p:cSld name="CUSTOM_4_1_1_1_1_2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86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91" name="Google Shape;291;p86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86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4">
  <p:cSld name="CUSTOM_4_1_1_1_1_2_1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87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97" name="Google Shape;297;p87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87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5">
  <p:cSld name="CUSTOM_4_1_1_1_1_2_1_1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88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303" name="Google Shape;303;p88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88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6">
  <p:cSld name="CUSTOM_4_1_1_1_1_2_1_1_1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89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309" name="Google Shape;309;p89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89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7">
  <p:cSld name="CUSTOM_4_1_1_1_1_2_1_1_1_1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0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315" name="Google Shape;315;p90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90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8">
  <p:cSld name="CUSTOM_4_1_1_1_1_2_1_1_1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91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321" name="Google Shape;321;p91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91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9">
  <p:cSld name="CUSTOM_4_1_1_1_1_2_1_1_1_1_1_1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92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327" name="Google Shape;327;p92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92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0">
  <p:cSld name="CUSTOM_4_1_1_1_1_2_1_1_1_1_1_1_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93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333" name="Google Shape;333;p93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93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1">
  <p:cSld name="CUSTOM_4_1_1_1_1_2_1_1_1_1_1_1_1_1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94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339" name="Google Shape;339;p94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94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2">
  <p:cSld name="CUSTOM_4_1_1_1_1_2_1_1_1_1_1_1_1_1_1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95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345" name="Google Shape;345;p95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95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3">
  <p:cSld name="CUSTOM_4_1_1_1_1_2_1_1_1_1_1_1_1_1_1_1_1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96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351" name="Google Shape;351;p96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96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4">
  <p:cSld name="CUSTOM_4_1_1_1_1_2_1_1_1_1_1_1_1_1_1_1_1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97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357" name="Google Shape;357;p97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97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5">
  <p:cSld name="CUSTOM_4_1_1_1_1_2_1_1_1_1_1_1_1_1_1_1_1_1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98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363" name="Google Shape;363;p98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98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 cover">
  <p:cSld name="CUSTOM_5"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99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99"/>
          <p:cNvSpPr txBox="1"/>
          <p:nvPr/>
        </p:nvSpPr>
        <p:spPr>
          <a:xfrm>
            <a:off x="1844700" y="2571750"/>
            <a:ext cx="28044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0" name="Google Shape;370;p99"/>
          <p:cNvSpPr txBox="1"/>
          <p:nvPr/>
        </p:nvSpPr>
        <p:spPr>
          <a:xfrm>
            <a:off x="1844700" y="3320075"/>
            <a:ext cx="28044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371" name="Google Shape;371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6094" y="2466114"/>
            <a:ext cx="232931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99"/>
          <p:cNvPicPr preferRelativeResize="0"/>
          <p:nvPr/>
        </p:nvPicPr>
        <p:blipFill rotWithShape="1">
          <a:blip r:embed="rId4">
            <a:alphaModFix/>
          </a:blip>
          <a:srcRect b="66" l="0" r="0" t="69"/>
          <a:stretch/>
        </p:blipFill>
        <p:spPr>
          <a:xfrm>
            <a:off x="-1129287" y="-1138884"/>
            <a:ext cx="3079773" cy="3285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 cover dark">
  <p:cSld name="CUSTOM_5_1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0"/>
          <p:cNvSpPr/>
          <p:nvPr/>
        </p:nvSpPr>
        <p:spPr>
          <a:xfrm rot="-5400000">
            <a:off x="1987000" y="-2007650"/>
            <a:ext cx="5169000" cy="9160200"/>
          </a:xfrm>
          <a:prstGeom prst="rect">
            <a:avLst/>
          </a:prstGeom>
          <a:gradFill>
            <a:gsLst>
              <a:gs pos="0">
                <a:srgbClr val="363632"/>
              </a:gs>
              <a:gs pos="100000">
                <a:srgbClr val="1D1D1B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00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p100"/>
          <p:cNvPicPr preferRelativeResize="0"/>
          <p:nvPr/>
        </p:nvPicPr>
        <p:blipFill rotWithShape="1">
          <a:blip r:embed="rId2">
            <a:alphaModFix/>
          </a:blip>
          <a:srcRect b="661" l="0" r="0" t="651"/>
          <a:stretch/>
        </p:blipFill>
        <p:spPr>
          <a:xfrm>
            <a:off x="6586094" y="2466114"/>
            <a:ext cx="2329311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00"/>
          <p:cNvPicPr preferRelativeResize="0"/>
          <p:nvPr/>
        </p:nvPicPr>
        <p:blipFill rotWithShape="1">
          <a:blip r:embed="rId3">
            <a:alphaModFix/>
          </a:blip>
          <a:srcRect b="66" l="0" r="0" t="69"/>
          <a:stretch/>
        </p:blipFill>
        <p:spPr>
          <a:xfrm>
            <a:off x="-1129287" y="-1138884"/>
            <a:ext cx="3079773" cy="3285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3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62.xml"/><Relationship Id="rId41" Type="http://schemas.openxmlformats.org/officeDocument/2006/relationships/slideLayout" Target="../slideLayouts/slideLayout61.xml"/><Relationship Id="rId22" Type="http://schemas.openxmlformats.org/officeDocument/2006/relationships/slideLayout" Target="../slideLayouts/slideLayout42.xml"/><Relationship Id="rId21" Type="http://schemas.openxmlformats.org/officeDocument/2006/relationships/slideLayout" Target="../slideLayouts/slideLayout41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44.xml"/><Relationship Id="rId23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46.xml"/><Relationship Id="rId25" Type="http://schemas.openxmlformats.org/officeDocument/2006/relationships/slideLayout" Target="../slideLayouts/slideLayout45.xml"/><Relationship Id="rId28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47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49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51.xml"/><Relationship Id="rId3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3F3F3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  <p:sldLayoutId id="2147483699" r:id="rId30"/>
    <p:sldLayoutId id="2147483700" r:id="rId31"/>
    <p:sldLayoutId id="2147483701" r:id="rId32"/>
    <p:sldLayoutId id="2147483702" r:id="rId33"/>
    <p:sldLayoutId id="2147483703" r:id="rId34"/>
    <p:sldLayoutId id="2147483704" r:id="rId35"/>
    <p:sldLayoutId id="2147483705" r:id="rId36"/>
    <p:sldLayoutId id="2147483706" r:id="rId37"/>
    <p:sldLayoutId id="2147483707" r:id="rId38"/>
    <p:sldLayoutId id="2147483708" r:id="rId39"/>
    <p:sldLayoutId id="2147483709" r:id="rId40"/>
    <p:sldLayoutId id="2147483710" r:id="rId41"/>
    <p:sldLayoutId id="2147483711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144">
          <p15:clr>
            <a:srgbClr val="EA4335"/>
          </p15:clr>
        </p15:guide>
        <p15:guide id="4" pos="5616">
          <p15:clr>
            <a:srgbClr val="EA4335"/>
          </p15:clr>
        </p15:guide>
        <p15:guide id="5" orient="horz" pos="240">
          <p15:clr>
            <a:srgbClr val="EA4335"/>
          </p15:clr>
        </p15:guide>
        <p15:guide id="6" orient="horz" pos="299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"/>
          <p:cNvSpPr txBox="1"/>
          <p:nvPr>
            <p:ph type="title"/>
          </p:nvPr>
        </p:nvSpPr>
        <p:spPr>
          <a:xfrm>
            <a:off x="1767600" y="2530075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 sz="2500"/>
              <a:t>Progetto </a:t>
            </a:r>
            <a:r>
              <a:rPr b="1" lang="it" sz="2500"/>
              <a:t>Climate</a:t>
            </a:r>
            <a:endParaRPr b="1" sz="2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 sz="3200"/>
              <a:t>Data</a:t>
            </a:r>
            <a:r>
              <a:rPr lang="it" sz="3200"/>
              <a:t> Analyst @ EEA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"/>
          <p:cNvSpPr txBox="1"/>
          <p:nvPr>
            <p:ph idx="1" type="body"/>
          </p:nvPr>
        </p:nvSpPr>
        <p:spPr>
          <a:xfrm>
            <a:off x="189825" y="1381347"/>
            <a:ext cx="4207200" cy="23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400">
                <a:latin typeface="Montserrat"/>
                <a:ea typeface="Montserrat"/>
                <a:cs typeface="Montserrat"/>
                <a:sym typeface="Montserrat"/>
              </a:rPr>
              <a:t>L'</a:t>
            </a:r>
            <a:r>
              <a:rPr b="1" lang="it" sz="1400">
                <a:latin typeface="Montserrat"/>
                <a:ea typeface="Montserrat"/>
                <a:cs typeface="Montserrat"/>
                <a:sym typeface="Montserrat"/>
              </a:rPr>
              <a:t>Agenzia Europea dell’Ambiente (EEA) </a:t>
            </a:r>
            <a:r>
              <a:rPr lang="it" sz="1400">
                <a:latin typeface="Montserrat"/>
                <a:ea typeface="Montserrat"/>
                <a:cs typeface="Montserrat"/>
                <a:sym typeface="Montserrat"/>
              </a:rPr>
              <a:t>è l’organizzazione che fornisce dati e analisi per supportare le politiche ambientali dell’Unione Europea.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400">
                <a:latin typeface="Montserrat"/>
                <a:ea typeface="Montserrat"/>
                <a:cs typeface="Montserrat"/>
                <a:sym typeface="Montserrat"/>
              </a:rPr>
              <a:t>I compiti principali dell'EEA sono: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it" sz="1400">
                <a:latin typeface="Montserrat"/>
                <a:ea typeface="Montserrat"/>
                <a:cs typeface="Montserrat"/>
                <a:sym typeface="Montserrat"/>
              </a:rPr>
              <a:t>Monitoraggio ambientale;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it" sz="1400">
                <a:latin typeface="Montserrat"/>
                <a:ea typeface="Montserrat"/>
                <a:cs typeface="Montserrat"/>
                <a:sym typeface="Montserrat"/>
              </a:rPr>
              <a:t>Supporto decisionale;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it" sz="1400">
                <a:latin typeface="Montserrat"/>
                <a:ea typeface="Montserrat"/>
                <a:cs typeface="Montserrat"/>
                <a:sym typeface="Montserrat"/>
              </a:rPr>
              <a:t>Sensibilizzazione.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2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Progetto Finale</a:t>
            </a:r>
            <a:endParaRPr/>
          </a:p>
        </p:txBody>
      </p:sp>
      <p:sp>
        <p:nvSpPr>
          <p:cNvPr id="389" name="Google Shape;389;p2"/>
          <p:cNvSpPr txBox="1"/>
          <p:nvPr>
            <p:ph idx="2" type="title"/>
          </p:nvPr>
        </p:nvSpPr>
        <p:spPr>
          <a:xfrm>
            <a:off x="126650" y="5956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Che cos’è la EEA</a:t>
            </a:r>
            <a:endParaRPr/>
          </a:p>
        </p:txBody>
      </p:sp>
      <p:pic>
        <p:nvPicPr>
          <p:cNvPr id="390" name="Google Shape;39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225" y="1597350"/>
            <a:ext cx="3711999" cy="19487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784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"/>
          <p:cNvSpPr txBox="1"/>
          <p:nvPr>
            <p:ph type="title"/>
          </p:nvPr>
        </p:nvSpPr>
        <p:spPr>
          <a:xfrm>
            <a:off x="367925" y="2118150"/>
            <a:ext cx="48375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it" sz="1000"/>
              <a:t>CAPITOLO 1</a:t>
            </a:r>
            <a:endParaRPr b="0"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/>
              <a:t>I Ruoli</a:t>
            </a:r>
            <a:endParaRPr/>
          </a:p>
        </p:txBody>
      </p:sp>
      <p:sp>
        <p:nvSpPr>
          <p:cNvPr id="396" name="Google Shape;396;p3"/>
          <p:cNvSpPr txBox="1"/>
          <p:nvPr>
            <p:ph idx="1" type="subTitle"/>
          </p:nvPr>
        </p:nvSpPr>
        <p:spPr>
          <a:xfrm>
            <a:off x="367925" y="3098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it"/>
              <a:t>Quali sono gli attori protagonisti del Progetto Finale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0b0ac5074b_0_0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Progetto Finale</a:t>
            </a:r>
            <a:endParaRPr/>
          </a:p>
        </p:txBody>
      </p:sp>
      <p:sp>
        <p:nvSpPr>
          <p:cNvPr id="402" name="Google Shape;402;g30b0ac5074b_0_0"/>
          <p:cNvSpPr txBox="1"/>
          <p:nvPr>
            <p:ph idx="2" type="title"/>
          </p:nvPr>
        </p:nvSpPr>
        <p:spPr>
          <a:xfrm>
            <a:off x="126650" y="5956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Lo scenario</a:t>
            </a:r>
            <a:endParaRPr/>
          </a:p>
        </p:txBody>
      </p:sp>
      <p:sp>
        <p:nvSpPr>
          <p:cNvPr id="403" name="Google Shape;403;g30b0ac5074b_0_0"/>
          <p:cNvSpPr txBox="1"/>
          <p:nvPr>
            <p:ph idx="1" type="body"/>
          </p:nvPr>
        </p:nvSpPr>
        <p:spPr>
          <a:xfrm>
            <a:off x="228600" y="1149746"/>
            <a:ext cx="4207200" cy="28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latin typeface="Montserrat"/>
                <a:ea typeface="Montserrat"/>
                <a:cs typeface="Montserrat"/>
                <a:sym typeface="Montserrat"/>
              </a:rPr>
              <a:t>La </a:t>
            </a:r>
            <a:r>
              <a:rPr b="1" lang="it" sz="1400">
                <a:latin typeface="Montserrat"/>
                <a:ea typeface="Montserrat"/>
                <a:cs typeface="Montserrat"/>
                <a:sym typeface="Montserrat"/>
              </a:rPr>
              <a:t>Direzione Generale per l’Azione per il Clima (DG CLIMA) </a:t>
            </a:r>
            <a:r>
              <a:rPr lang="it" sz="1400">
                <a:latin typeface="Montserrat"/>
                <a:ea typeface="Montserrat"/>
                <a:cs typeface="Montserrat"/>
                <a:sym typeface="Montserrat"/>
              </a:rPr>
              <a:t>ha richiesto alla EEA un report dettagliato per valutare i progressi dei paesi membri dell’UE verso gli obiettivi climatici e ambientali fissati per il 2030, in linea con il </a:t>
            </a:r>
            <a:r>
              <a:rPr b="1" lang="it" sz="1400">
                <a:latin typeface="Montserrat"/>
                <a:ea typeface="Montserrat"/>
                <a:cs typeface="Montserrat"/>
                <a:sym typeface="Montserrat"/>
              </a:rPr>
              <a:t>Green Deal Europeo </a:t>
            </a:r>
            <a:r>
              <a:rPr lang="it" sz="1400">
                <a:latin typeface="Montserrat"/>
                <a:ea typeface="Montserrat"/>
                <a:cs typeface="Montserrat"/>
                <a:sym typeface="Montserrat"/>
              </a:rPr>
              <a:t>e il pacchetto legislativo </a:t>
            </a:r>
            <a:r>
              <a:rPr b="1" lang="it" sz="1400">
                <a:latin typeface="Montserrat"/>
                <a:ea typeface="Montserrat"/>
                <a:cs typeface="Montserrat"/>
                <a:sym typeface="Montserrat"/>
              </a:rPr>
              <a:t>Fit for 55</a:t>
            </a:r>
            <a:r>
              <a:rPr lang="it" sz="14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400">
                <a:latin typeface="Montserrat"/>
                <a:ea typeface="Montserrat"/>
                <a:cs typeface="Montserrat"/>
                <a:sym typeface="Montserrat"/>
              </a:rPr>
              <a:t>L'obiettivo principale è valutare la qualità dell'aria, l'utilizzo delle energie rinnovabili e l'efficienza delle politiche adottate.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4" name="Google Shape;404;g30b0ac5074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225" y="1597350"/>
            <a:ext cx="3711999" cy="19487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784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"/>
          <p:cNvSpPr txBox="1"/>
          <p:nvPr>
            <p:ph idx="1" type="body"/>
          </p:nvPr>
        </p:nvSpPr>
        <p:spPr>
          <a:xfrm>
            <a:off x="198975" y="1361850"/>
            <a:ext cx="4207200" cy="24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t" sz="1400">
                <a:latin typeface="Montserrat"/>
                <a:ea typeface="Montserrat"/>
                <a:cs typeface="Montserrat"/>
                <a:sym typeface="Montserrat"/>
              </a:rPr>
              <a:t>Aulab</a:t>
            </a:r>
            <a:r>
              <a:rPr lang="it" sz="1400"/>
              <a:t> sarà il </a:t>
            </a:r>
            <a:r>
              <a:rPr b="1" lang="it" sz="1400">
                <a:latin typeface="Montserrat"/>
                <a:ea typeface="Montserrat"/>
                <a:cs typeface="Montserrat"/>
                <a:sym typeface="Montserrat"/>
              </a:rPr>
              <a:t>Product Owner </a:t>
            </a:r>
            <a:r>
              <a:rPr lang="it" sz="1400"/>
              <a:t>di questa operazione d'analisi.</a:t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400"/>
              <a:t>Il Product Owner è il principale punto di contatto con il cliente finale e gli Stakeholders.</a:t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400"/>
              <a:t>Collaborando con il Team, si assicurerà di far emergere degli insights con il più alto valore possibile entro la deadline indicata.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0" name="Google Shape;410;p4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Capitolo 1 - I Ruoli</a:t>
            </a:r>
            <a:endParaRPr/>
          </a:p>
        </p:txBody>
      </p:sp>
      <p:sp>
        <p:nvSpPr>
          <p:cNvPr id="411" name="Google Shape;411;p4"/>
          <p:cNvSpPr txBox="1"/>
          <p:nvPr>
            <p:ph idx="2"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Il Product Owner</a:t>
            </a:r>
            <a:endParaRPr/>
          </a:p>
        </p:txBody>
      </p:sp>
      <p:pic>
        <p:nvPicPr>
          <p:cNvPr id="412" name="Google Shape;4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2724" y="335300"/>
            <a:ext cx="2983100" cy="4472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Capitolo 1 - I Ruoli</a:t>
            </a:r>
            <a:endParaRPr/>
          </a:p>
        </p:txBody>
      </p:sp>
      <p:sp>
        <p:nvSpPr>
          <p:cNvPr id="418" name="Google Shape;418;p6"/>
          <p:cNvSpPr txBox="1"/>
          <p:nvPr>
            <p:ph idx="2" type="title"/>
          </p:nvPr>
        </p:nvSpPr>
        <p:spPr>
          <a:xfrm>
            <a:off x="126650" y="519475"/>
            <a:ext cx="8881496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Il Team di </a:t>
            </a:r>
            <a:r>
              <a:rPr lang="it"/>
              <a:t>Analisti</a:t>
            </a:r>
            <a:endParaRPr/>
          </a:p>
        </p:txBody>
      </p:sp>
      <p:pic>
        <p:nvPicPr>
          <p:cNvPr id="419" name="Google Shape;4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1100" y="1198675"/>
            <a:ext cx="5701801" cy="3485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"/>
          <p:cNvSpPr txBox="1"/>
          <p:nvPr>
            <p:ph type="title"/>
          </p:nvPr>
        </p:nvSpPr>
        <p:spPr>
          <a:xfrm>
            <a:off x="367925" y="2118150"/>
            <a:ext cx="48375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it" sz="1000"/>
              <a:t>CAPITOLO 2</a:t>
            </a:r>
            <a:endParaRPr b="0"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/>
              <a:t>Come lavoreremo</a:t>
            </a:r>
            <a:endParaRPr/>
          </a:p>
        </p:txBody>
      </p:sp>
      <p:sp>
        <p:nvSpPr>
          <p:cNvPr id="425" name="Google Shape;425;p7"/>
          <p:cNvSpPr txBox="1"/>
          <p:nvPr>
            <p:ph idx="1" type="subTitle"/>
          </p:nvPr>
        </p:nvSpPr>
        <p:spPr>
          <a:xfrm>
            <a:off x="367925" y="3098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it"/>
              <a:t>La struttura e i costrutti del Progetto Finale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0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Capitolo 2 - Come lavoreremo</a:t>
            </a:r>
            <a:endParaRPr/>
          </a:p>
        </p:txBody>
      </p:sp>
      <p:sp>
        <p:nvSpPr>
          <p:cNvPr id="431" name="Google Shape;431;p10"/>
          <p:cNvSpPr txBox="1"/>
          <p:nvPr>
            <p:ph idx="2"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Le fasi dell'analisi</a:t>
            </a:r>
            <a:endParaRPr/>
          </a:p>
        </p:txBody>
      </p:sp>
      <p:sp>
        <p:nvSpPr>
          <p:cNvPr id="432" name="Google Shape;432;p10"/>
          <p:cNvSpPr txBox="1"/>
          <p:nvPr>
            <p:ph idx="1" type="body"/>
          </p:nvPr>
        </p:nvSpPr>
        <p:spPr>
          <a:xfrm>
            <a:off x="249525" y="1366351"/>
            <a:ext cx="4207200" cy="24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 percorso di analisi è diviso in varie parti: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b="1"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Start del progetto</a:t>
            </a: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b="1"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Esplorazione dei dati</a:t>
            </a: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b="1"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Analisi Descrittive</a:t>
            </a: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b="1"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Analisi Predittive</a:t>
            </a: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Ognuno di voi lavorerà sulla propria analisi, confrontandosi però con i colleghi in caso di necessità.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3" name="Google Shape;4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2725" y="335300"/>
            <a:ext cx="2983080" cy="4472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1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Capitolo 2 - Come lavoreremo</a:t>
            </a:r>
            <a:endParaRPr/>
          </a:p>
        </p:txBody>
      </p:sp>
      <p:sp>
        <p:nvSpPr>
          <p:cNvPr id="439" name="Google Shape;439;p11"/>
          <p:cNvSpPr txBox="1"/>
          <p:nvPr>
            <p:ph idx="2"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Le richieste del management</a:t>
            </a:r>
            <a:endParaRPr/>
          </a:p>
        </p:txBody>
      </p:sp>
      <p:sp>
        <p:nvSpPr>
          <p:cNvPr id="440" name="Google Shape;440;p11"/>
          <p:cNvSpPr txBox="1"/>
          <p:nvPr>
            <p:ph idx="1" type="body"/>
          </p:nvPr>
        </p:nvSpPr>
        <p:spPr>
          <a:xfrm>
            <a:off x="228600" y="1086100"/>
            <a:ext cx="4620000" cy="24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DG CLIMA ha richiesto le seguente analisi: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Effettuare un’</a:t>
            </a:r>
            <a:r>
              <a:rPr b="1"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analisi descrittiva</a:t>
            </a:r>
            <a:r>
              <a:rPr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per: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Identificare i </a:t>
            </a:r>
            <a:r>
              <a:rPr b="1"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Paesi più inquinanti</a:t>
            </a:r>
            <a:r>
              <a:rPr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Analizzare il </a:t>
            </a:r>
            <a:r>
              <a:rPr b="1"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trend delle emissioni di gas </a:t>
            </a:r>
            <a:r>
              <a:rPr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 individuare trend positivi e negativi;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Esaminare la </a:t>
            </a:r>
            <a:r>
              <a:rPr b="1"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correlazione tra energie rinnovabili e riduzione delle emissioni</a:t>
            </a:r>
            <a:r>
              <a:rPr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Creare </a:t>
            </a:r>
            <a:r>
              <a:rPr b="1"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modelli predittivi </a:t>
            </a:r>
            <a:r>
              <a:rPr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 stimare il futuro della sostenibilità ambientale fino al 2035: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b="1"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Predire la produzione di CO2</a:t>
            </a:r>
            <a:r>
              <a:rPr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dei Paesi dell’Unione;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b="1"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Predire l’utilizzo di energie rinnovabili</a:t>
            </a:r>
            <a:r>
              <a:rPr lang="it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dei Paesi dell’Unione.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1" name="Google Shape;44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2725" y="337166"/>
            <a:ext cx="2983102" cy="446919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784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249a1afb43_0_6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Capitolo 2 - Come lavoreremo</a:t>
            </a:r>
            <a:endParaRPr/>
          </a:p>
        </p:txBody>
      </p:sp>
      <p:sp>
        <p:nvSpPr>
          <p:cNvPr id="447" name="Google Shape;447;g3249a1afb43_0_6"/>
          <p:cNvSpPr txBox="1"/>
          <p:nvPr>
            <p:ph idx="2"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Le richieste del management (EXTRA)</a:t>
            </a:r>
            <a:endParaRPr/>
          </a:p>
        </p:txBody>
      </p:sp>
      <p:sp>
        <p:nvSpPr>
          <p:cNvPr id="448" name="Google Shape;448;g3249a1afb43_0_6"/>
          <p:cNvSpPr txBox="1"/>
          <p:nvPr>
            <p:ph idx="1" type="body"/>
          </p:nvPr>
        </p:nvSpPr>
        <p:spPr>
          <a:xfrm>
            <a:off x="228600" y="1086100"/>
            <a:ext cx="4207200" cy="24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 </a:t>
            </a:r>
            <a:r>
              <a:rPr b="1" lang="it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Governo Italiano</a:t>
            </a:r>
            <a:r>
              <a:rPr lang="it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ha chiesto un'analisi specifica per valutare il posizionamento dell'Italia rispetto agli obiettivi climatici.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Bisogna quindi: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-"/>
            </a:pPr>
            <a:r>
              <a:rPr lang="it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Effettuare un’</a:t>
            </a:r>
            <a:r>
              <a:rPr b="1" lang="it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analisi descrittiva</a:t>
            </a:r>
            <a:r>
              <a:rPr lang="it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sulla situazione attuale dell’Italia;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-"/>
            </a:pPr>
            <a:r>
              <a:rPr b="1" lang="it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Prevedere il posizionamento dell’Italia rispetto agli obiettivi UE</a:t>
            </a:r>
            <a:r>
              <a:rPr lang="it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(emissioni di gas serra e utilizzo di energie rinnovabili).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-"/>
            </a:pPr>
            <a:r>
              <a:rPr b="1" lang="it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Comparazione con la media</a:t>
            </a:r>
            <a:r>
              <a:rPr lang="it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europea.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9" name="Google Shape;449;g3249a1afb43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2725" y="335300"/>
            <a:ext cx="2983100" cy="447291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784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2"/>
          <p:cNvSpPr txBox="1"/>
          <p:nvPr>
            <p:ph type="title"/>
          </p:nvPr>
        </p:nvSpPr>
        <p:spPr>
          <a:xfrm>
            <a:off x="367925" y="2118150"/>
            <a:ext cx="48375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it" sz="1000"/>
              <a:t>CAPITOLO 3</a:t>
            </a:r>
            <a:endParaRPr b="0"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/>
              <a:t>Le richieste nel dettaglio</a:t>
            </a:r>
            <a:endParaRPr/>
          </a:p>
        </p:txBody>
      </p:sp>
      <p:sp>
        <p:nvSpPr>
          <p:cNvPr id="455" name="Google Shape;455;p12"/>
          <p:cNvSpPr txBox="1"/>
          <p:nvPr>
            <p:ph idx="1" type="subTitle"/>
          </p:nvPr>
        </p:nvSpPr>
        <p:spPr>
          <a:xfrm>
            <a:off x="367925" y="3098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it"/>
              <a:t>Quali analisi dobbiamo produrre e consegnare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"/>
          <p:cNvSpPr txBox="1"/>
          <p:nvPr>
            <p:ph idx="2" type="title"/>
          </p:nvPr>
        </p:nvSpPr>
        <p:spPr>
          <a:xfrm>
            <a:off x="126650" y="519475"/>
            <a:ext cx="8788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it"/>
              <a:t>1. Identificare i Paesi più inquinanti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1" name="Google Shape;461;p13"/>
          <p:cNvSpPr txBox="1"/>
          <p:nvPr>
            <p:ph idx="3" type="body"/>
          </p:nvPr>
        </p:nvSpPr>
        <p:spPr>
          <a:xfrm>
            <a:off x="4572000" y="1423075"/>
            <a:ext cx="4281300" cy="24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t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Obiettivo: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Identificare quei Paesi dell'Unione Europea con le </a:t>
            </a:r>
            <a:r>
              <a:rPr b="1"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emissioni di Gas Serra</a:t>
            </a:r>
            <a:r>
              <a:rPr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di diversi tipi,</a:t>
            </a:r>
            <a:r>
              <a:rPr b="1"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più elevate.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13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Capitolo 3 - Le analisi nel dettaglio</a:t>
            </a:r>
            <a:endParaRPr/>
          </a:p>
        </p:txBody>
      </p:sp>
      <p:pic>
        <p:nvPicPr>
          <p:cNvPr id="463" name="Google Shape;463;p13"/>
          <p:cNvPicPr preferRelativeResize="0"/>
          <p:nvPr/>
        </p:nvPicPr>
        <p:blipFill rotWithShape="1">
          <a:blip r:embed="rId3">
            <a:alphaModFix/>
          </a:blip>
          <a:srcRect b="0" l="12975" r="0" t="0"/>
          <a:stretch/>
        </p:blipFill>
        <p:spPr>
          <a:xfrm>
            <a:off x="266700" y="1372163"/>
            <a:ext cx="3725649" cy="2559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4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0b0ac5074b_0_11"/>
          <p:cNvSpPr txBox="1"/>
          <p:nvPr>
            <p:ph idx="2" type="title"/>
          </p:nvPr>
        </p:nvSpPr>
        <p:spPr>
          <a:xfrm>
            <a:off x="126650" y="519475"/>
            <a:ext cx="8788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it"/>
              <a:t>2. Identificare i Trend delle Emissioni di Gas Serra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9" name="Google Shape;469;g30b0ac5074b_0_11"/>
          <p:cNvSpPr txBox="1"/>
          <p:nvPr>
            <p:ph idx="3" type="body"/>
          </p:nvPr>
        </p:nvSpPr>
        <p:spPr>
          <a:xfrm>
            <a:off x="4572000" y="1423075"/>
            <a:ext cx="4281300" cy="24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t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Obiettivo: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Analizzare i </a:t>
            </a:r>
            <a:r>
              <a:rPr b="1"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trend di emissione</a:t>
            </a:r>
            <a:r>
              <a:rPr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dei vari gas serra dal 1990 al 2023 dei Paesi dell'Unione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g30b0ac5074b_0_11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Capitolo 3 - Le analisi nel dettaglio</a:t>
            </a:r>
            <a:endParaRPr/>
          </a:p>
        </p:txBody>
      </p:sp>
      <p:pic>
        <p:nvPicPr>
          <p:cNvPr id="471" name="Google Shape;471;g30b0ac5074b_0_11"/>
          <p:cNvPicPr preferRelativeResize="0"/>
          <p:nvPr/>
        </p:nvPicPr>
        <p:blipFill rotWithShape="1">
          <a:blip r:embed="rId3">
            <a:alphaModFix/>
          </a:blip>
          <a:srcRect b="0" l="0" r="11386" t="0"/>
          <a:stretch/>
        </p:blipFill>
        <p:spPr>
          <a:xfrm>
            <a:off x="266700" y="1716400"/>
            <a:ext cx="3901975" cy="193946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4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0b0ac5074b_0_19"/>
          <p:cNvSpPr txBox="1"/>
          <p:nvPr>
            <p:ph idx="2" type="title"/>
          </p:nvPr>
        </p:nvSpPr>
        <p:spPr>
          <a:xfrm>
            <a:off x="126650" y="519475"/>
            <a:ext cx="8788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it"/>
              <a:t>3. Top Paesi virtuosi sulle Energie Rinnovabili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7" name="Google Shape;477;g30b0ac5074b_0_19"/>
          <p:cNvSpPr txBox="1"/>
          <p:nvPr>
            <p:ph idx="3" type="body"/>
          </p:nvPr>
        </p:nvSpPr>
        <p:spPr>
          <a:xfrm>
            <a:off x="4572000" y="1423075"/>
            <a:ext cx="4281300" cy="24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t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Obiettivo: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Identificare i Paesi che </a:t>
            </a:r>
            <a:r>
              <a:rPr b="1"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più utilizzano le Energie Rinnovabili</a:t>
            </a:r>
            <a:r>
              <a:rPr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per creare energie elettrica nel 2023.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8" name="Google Shape;478;g30b0ac5074b_0_19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Capitolo 3 - Le analisi nel dettaglio</a:t>
            </a:r>
            <a:endParaRPr/>
          </a:p>
        </p:txBody>
      </p:sp>
      <p:pic>
        <p:nvPicPr>
          <p:cNvPr id="479" name="Google Shape;479;g30b0ac5074b_0_19"/>
          <p:cNvPicPr preferRelativeResize="0"/>
          <p:nvPr/>
        </p:nvPicPr>
        <p:blipFill rotWithShape="1">
          <a:blip r:embed="rId3">
            <a:alphaModFix/>
          </a:blip>
          <a:srcRect b="43301" l="16752" r="40575" t="16115"/>
          <a:stretch/>
        </p:blipFill>
        <p:spPr>
          <a:xfrm>
            <a:off x="266225" y="1738600"/>
            <a:ext cx="3901976" cy="1674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</p:pic>
      <p:pic>
        <p:nvPicPr>
          <p:cNvPr id="480" name="Google Shape;480;g30b0ac5074b_0_19"/>
          <p:cNvPicPr preferRelativeResize="0"/>
          <p:nvPr/>
        </p:nvPicPr>
        <p:blipFill rotWithShape="1">
          <a:blip r:embed="rId4">
            <a:alphaModFix/>
          </a:blip>
          <a:srcRect b="0" l="12861" r="0" t="0"/>
          <a:stretch/>
        </p:blipFill>
        <p:spPr>
          <a:xfrm>
            <a:off x="266225" y="1306063"/>
            <a:ext cx="3901975" cy="269162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4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0b0ac5074b_0_27"/>
          <p:cNvSpPr txBox="1"/>
          <p:nvPr>
            <p:ph idx="2" type="title"/>
          </p:nvPr>
        </p:nvSpPr>
        <p:spPr>
          <a:xfrm>
            <a:off x="126650" y="519475"/>
            <a:ext cx="8788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it"/>
              <a:t>4. Trend della Produzione di Elettricità da Fonti Rinnovabili per Paese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6" name="Google Shape;486;g30b0ac5074b_0_27"/>
          <p:cNvSpPr txBox="1"/>
          <p:nvPr>
            <p:ph idx="3" type="body"/>
          </p:nvPr>
        </p:nvSpPr>
        <p:spPr>
          <a:xfrm>
            <a:off x="4572000" y="1423075"/>
            <a:ext cx="4281300" cy="24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t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Obiettivo: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Far emergere il </a:t>
            </a:r>
            <a:r>
              <a:rPr b="1"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trend negli anni di Produzione di Elettricità</a:t>
            </a:r>
            <a:r>
              <a:rPr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 fonti rinnovabili, Paese per Paese, dal 2005 al 2023.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g30b0ac5074b_0_27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Capitolo 3 - Le analisi nel dettaglio</a:t>
            </a:r>
            <a:endParaRPr/>
          </a:p>
        </p:txBody>
      </p:sp>
      <p:pic>
        <p:nvPicPr>
          <p:cNvPr id="488" name="Google Shape;488;g30b0ac5074b_0_27"/>
          <p:cNvPicPr preferRelativeResize="0"/>
          <p:nvPr/>
        </p:nvPicPr>
        <p:blipFill rotWithShape="1">
          <a:blip r:embed="rId3">
            <a:alphaModFix/>
          </a:blip>
          <a:srcRect b="0" l="0" r="11378" t="0"/>
          <a:stretch/>
        </p:blipFill>
        <p:spPr>
          <a:xfrm>
            <a:off x="266700" y="1602163"/>
            <a:ext cx="3901975" cy="193917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4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0b0ac5074b_0_34"/>
          <p:cNvSpPr txBox="1"/>
          <p:nvPr>
            <p:ph idx="2" type="title"/>
          </p:nvPr>
        </p:nvSpPr>
        <p:spPr>
          <a:xfrm>
            <a:off x="126650" y="519475"/>
            <a:ext cx="8788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it"/>
              <a:t>5. Correlazione tra Energie Rinnovabili ed Emissioni di Gas Serra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4" name="Google Shape;494;g30b0ac5074b_0_34"/>
          <p:cNvSpPr txBox="1"/>
          <p:nvPr>
            <p:ph idx="3" type="body"/>
          </p:nvPr>
        </p:nvSpPr>
        <p:spPr>
          <a:xfrm>
            <a:off x="4572000" y="1423075"/>
            <a:ext cx="4281300" cy="24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t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Obiettivo: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Valutare se esiste una </a:t>
            </a:r>
            <a:r>
              <a:rPr b="1"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correlazione </a:t>
            </a:r>
            <a:r>
              <a:rPr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 l'utilizzo di Energie Rinnovabili ed Emissioni di Gas Serra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g30b0ac5074b_0_34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Capitolo 3 - Le analisi nel dettaglio</a:t>
            </a:r>
            <a:endParaRPr/>
          </a:p>
        </p:txBody>
      </p:sp>
      <p:pic>
        <p:nvPicPr>
          <p:cNvPr id="496" name="Google Shape;496;g30b0ac5074b_0_34"/>
          <p:cNvPicPr preferRelativeResize="0"/>
          <p:nvPr/>
        </p:nvPicPr>
        <p:blipFill rotWithShape="1">
          <a:blip r:embed="rId3">
            <a:alphaModFix/>
          </a:blip>
          <a:srcRect b="0" l="0" r="17668" t="0"/>
          <a:stretch/>
        </p:blipFill>
        <p:spPr>
          <a:xfrm>
            <a:off x="228600" y="1073663"/>
            <a:ext cx="3901975" cy="315642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4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0b0ac5074b_0_41"/>
          <p:cNvSpPr txBox="1"/>
          <p:nvPr>
            <p:ph idx="2" type="title"/>
          </p:nvPr>
        </p:nvSpPr>
        <p:spPr>
          <a:xfrm>
            <a:off x="126650" y="519475"/>
            <a:ext cx="8788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it"/>
              <a:t>6. Predizione sulla produzione di CO2 dei Paesi dell'Unione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2" name="Google Shape;502;g30b0ac5074b_0_41"/>
          <p:cNvSpPr txBox="1"/>
          <p:nvPr>
            <p:ph idx="3" type="body"/>
          </p:nvPr>
        </p:nvSpPr>
        <p:spPr>
          <a:xfrm>
            <a:off x="4572000" y="1423075"/>
            <a:ext cx="4281300" cy="24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t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Obiettivo: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Predirre la produzione di CO2 </a:t>
            </a:r>
            <a:r>
              <a:rPr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dei Paesi dell'Unione fino al 2035 attraverso diversi algoritmi.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g30b0ac5074b_0_41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Capitolo 3 - Le analisi nel dettaglio</a:t>
            </a:r>
            <a:endParaRPr/>
          </a:p>
        </p:txBody>
      </p:sp>
      <p:pic>
        <p:nvPicPr>
          <p:cNvPr id="504" name="Google Shape;504;g30b0ac5074b_0_41"/>
          <p:cNvPicPr preferRelativeResize="0"/>
          <p:nvPr/>
        </p:nvPicPr>
        <p:blipFill rotWithShape="1">
          <a:blip r:embed="rId3">
            <a:alphaModFix/>
          </a:blip>
          <a:srcRect b="0" l="0" r="19568" t="0"/>
          <a:stretch/>
        </p:blipFill>
        <p:spPr>
          <a:xfrm>
            <a:off x="228600" y="1828525"/>
            <a:ext cx="4012500" cy="1646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4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249a1afb43_0_19"/>
          <p:cNvSpPr txBox="1"/>
          <p:nvPr>
            <p:ph idx="2" type="title"/>
          </p:nvPr>
        </p:nvSpPr>
        <p:spPr>
          <a:xfrm>
            <a:off x="126650" y="519475"/>
            <a:ext cx="8788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it"/>
              <a:t>7. Predizione sull'utilizzo di Energie Rinnovabili dei Paesi dell'UE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0" name="Google Shape;510;g3249a1afb43_0_19"/>
          <p:cNvSpPr txBox="1"/>
          <p:nvPr>
            <p:ph idx="3" type="body"/>
          </p:nvPr>
        </p:nvSpPr>
        <p:spPr>
          <a:xfrm>
            <a:off x="4572000" y="1423075"/>
            <a:ext cx="4281300" cy="24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t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Obiettivo: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Predirre l'utilizzo di Energie Rinnovabili </a:t>
            </a:r>
            <a:r>
              <a:rPr lang="i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dei Paesi dell'Unione fino al 2035 attraverso diversi algoritmi.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1" name="Google Shape;511;g3249a1afb43_0_19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Capitolo 3 - Le analisi nel dettaglio</a:t>
            </a:r>
            <a:endParaRPr/>
          </a:p>
        </p:txBody>
      </p:sp>
      <p:pic>
        <p:nvPicPr>
          <p:cNvPr id="512" name="Google Shape;512;g3249a1afb43_0_19"/>
          <p:cNvPicPr preferRelativeResize="0"/>
          <p:nvPr/>
        </p:nvPicPr>
        <p:blipFill rotWithShape="1">
          <a:blip r:embed="rId3">
            <a:alphaModFix/>
          </a:blip>
          <a:srcRect b="0" l="0" r="19652" t="0"/>
          <a:stretch/>
        </p:blipFill>
        <p:spPr>
          <a:xfrm>
            <a:off x="228600" y="1828525"/>
            <a:ext cx="4012500" cy="164843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4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9"/>
          <p:cNvSpPr txBox="1"/>
          <p:nvPr/>
        </p:nvSpPr>
        <p:spPr>
          <a:xfrm>
            <a:off x="4865302" y="1366350"/>
            <a:ext cx="3819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deadline è impostata per il giorno </a:t>
            </a:r>
            <a:r>
              <a:rPr b="1" lang="it" sz="1500">
                <a:latin typeface="Montserrat"/>
                <a:ea typeface="Montserrat"/>
                <a:cs typeface="Montserrat"/>
                <a:sym typeface="Montserrat"/>
              </a:rPr>
              <a:t>24</a:t>
            </a:r>
            <a:r>
              <a:rPr b="1" i="0" lang="it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</a:t>
            </a:r>
            <a:r>
              <a:rPr b="1" lang="it" sz="1500">
                <a:latin typeface="Montserrat"/>
                <a:ea typeface="Montserrat"/>
                <a:cs typeface="Montserrat"/>
                <a:sym typeface="Montserrat"/>
              </a:rPr>
              <a:t>01</a:t>
            </a:r>
            <a:r>
              <a:rPr b="1" i="0" lang="it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/202</a:t>
            </a:r>
            <a:r>
              <a:rPr b="1" lang="it" sz="1500"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1" i="0" lang="it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 questa data, gli analisti si impegnano a effettuare una </a:t>
            </a:r>
            <a:r>
              <a:rPr b="1" i="0" lang="it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presentazione</a:t>
            </a:r>
            <a:r>
              <a:rPr b="0" i="0" lang="it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per tutti gli stakeholders.</a:t>
            </a:r>
            <a:endParaRPr b="0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29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it" sz="900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Capitolo 3 - Le analisi nel dettaglio</a:t>
            </a:r>
            <a:endParaRPr/>
          </a:p>
        </p:txBody>
      </p:sp>
      <p:sp>
        <p:nvSpPr>
          <p:cNvPr id="519" name="Google Shape;519;p29"/>
          <p:cNvSpPr txBox="1"/>
          <p:nvPr>
            <p:ph type="title"/>
          </p:nvPr>
        </p:nvSpPr>
        <p:spPr>
          <a:xfrm>
            <a:off x="169525" y="5194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>
                <a:solidFill>
                  <a:srgbClr val="000000"/>
                </a:solidFill>
              </a:rPr>
              <a:t>Output richiesto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9"/>
          <p:cNvSpPr txBox="1"/>
          <p:nvPr>
            <p:ph idx="4294967295" type="body"/>
          </p:nvPr>
        </p:nvSpPr>
        <p:spPr>
          <a:xfrm>
            <a:off x="249525" y="1366350"/>
            <a:ext cx="3919200" cy="24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 queste analisi, è necessario produrre:</a:t>
            </a:r>
            <a:br>
              <a:rPr lang="it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-"/>
            </a:pPr>
            <a:r>
              <a:rPr lang="it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</a:t>
            </a:r>
            <a:r>
              <a:rPr b="1" lang="it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report tecnico </a:t>
            </a:r>
            <a:r>
              <a:rPr lang="it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 risultati, visualizzazioni e raccomandazioni (slides)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5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840000" dist="38100">
              <a:srgbClr val="000000">
                <a:alpha val="83529"/>
              </a:srgbClr>
            </a:outerShdw>
          </a:effectLst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it" sz="2400">
                <a:latin typeface="Lato"/>
                <a:ea typeface="Lato"/>
                <a:cs typeface="Lato"/>
                <a:sym typeface="Lato"/>
              </a:rPr>
              <a:t>‘</a:t>
            </a:r>
            <a:r>
              <a:rPr b="1" lang="it" sz="2400">
                <a:latin typeface="Lato"/>
                <a:ea typeface="Lato"/>
                <a:cs typeface="Lato"/>
                <a:sym typeface="Lato"/>
              </a:rPr>
              <a:t>La conoscenza della statistica è come la conoscenza delle lingue straniere o dell'algebra; può rivelarsi utile in qualsiasi momento e in qualsiasi circostanza.</a:t>
            </a:r>
            <a:r>
              <a:rPr b="1" lang="it" sz="2400">
                <a:latin typeface="Lato"/>
                <a:ea typeface="Lato"/>
                <a:cs typeface="Lato"/>
                <a:sym typeface="Lato"/>
              </a:rPr>
              <a:t>’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2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SzPts val="1200"/>
              <a:buNone/>
            </a:pPr>
            <a:r>
              <a:rPr b="1" lang="it" sz="2400">
                <a:latin typeface="Lato"/>
                <a:ea typeface="Lato"/>
                <a:cs typeface="Lato"/>
                <a:sym typeface="Lato"/>
              </a:rPr>
              <a:t>-Arthur Lione Bowley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6"/>
          <p:cNvSpPr txBox="1"/>
          <p:nvPr/>
        </p:nvSpPr>
        <p:spPr>
          <a:xfrm>
            <a:off x="1844700" y="2571750"/>
            <a:ext cx="28044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Aulab S.r.l.</a:t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1" name="Google Shape;531;p36"/>
          <p:cNvSpPr txBox="1"/>
          <p:nvPr/>
        </p:nvSpPr>
        <p:spPr>
          <a:xfrm>
            <a:off x="1844700" y="2945825"/>
            <a:ext cx="28044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" sz="105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Strada S. Giorgio Martire, 2D</a:t>
            </a:r>
            <a:endParaRPr b="0" i="0" sz="1050" u="none" cap="none" strike="noStrike">
              <a:solidFill>
                <a:srgbClr val="1D1D1B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" sz="105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70124 Bari (BA)</a:t>
            </a:r>
            <a:endParaRPr b="0" i="0" sz="1050" u="none" cap="none" strike="noStrike">
              <a:solidFill>
                <a:srgbClr val="1D1D1B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B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it" sz="105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="0" i="0" lang="it" sz="105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aulab.it</a:t>
            </a:r>
            <a:endParaRPr b="0" i="0" sz="1050" u="none" cap="none" strike="noStrike">
              <a:solidFill>
                <a:srgbClr val="1D1D1B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it" sz="105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b="0" i="0" lang="it" sz="105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 aulab@aulab.it</a:t>
            </a:r>
            <a:endParaRPr b="0" i="0" sz="1050" u="none" cap="none" strike="noStrike">
              <a:solidFill>
                <a:srgbClr val="1D1D1B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it" sz="105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b="0" i="0" lang="it" sz="105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+39 392 602 46 21</a:t>
            </a:r>
            <a:endParaRPr b="0" i="0" sz="1150" u="none" cap="none" strike="noStrike">
              <a:solidFill>
                <a:srgbClr val="1D1D1B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ulab PPT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